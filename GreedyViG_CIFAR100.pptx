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BC25755-2F2F-472D-8133-299B000A89A8}">
  <a:tblStyle styleId="{9BC25755-2F2F-472D-8133-299B000A89A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929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2240"/>
          </a:solidFill>
          <a:ln cap="flat" cmpd="sng" w="12700">
            <a:solidFill>
              <a:srgbClr val="1122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GreedyViG: Dynamic Axial Graph Construction for Efficient Vision GNNs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" name="Google Shape;19;p3"/>
          <p:cNvGrpSpPr/>
          <p:nvPr/>
        </p:nvGrpSpPr>
        <p:grpSpPr>
          <a:xfrm>
            <a:off x="182876" y="841222"/>
            <a:ext cx="4135433" cy="1064644"/>
            <a:chOff x="182871" y="841245"/>
            <a:chExt cx="2388905" cy="1635900"/>
          </a:xfrm>
        </p:grpSpPr>
        <p:sp>
          <p:nvSpPr>
            <p:cNvPr id="20" name="Google Shape;20;p3"/>
            <p:cNvSpPr/>
            <p:nvPr/>
          </p:nvSpPr>
          <p:spPr>
            <a:xfrm>
              <a:off x="182871" y="841245"/>
              <a:ext cx="2388900" cy="1635900"/>
            </a:xfrm>
            <a:prstGeom prst="rect">
              <a:avLst/>
            </a:prstGeom>
            <a:solidFill>
              <a:srgbClr val="162B4A"/>
            </a:solidFill>
            <a:ln cap="flat" cmpd="sng" w="12700">
              <a:solidFill>
                <a:srgbClr val="11224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8100000" dist="3810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99"/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182876" y="841249"/>
              <a:ext cx="2388900" cy="36600"/>
            </a:xfrm>
            <a:prstGeom prst="rect">
              <a:avLst/>
            </a:prstGeom>
            <a:solidFill>
              <a:srgbClr val="F87171"/>
            </a:solidFill>
            <a:ln cap="flat" cmpd="sng" w="12700">
              <a:solidFill>
                <a:srgbClr val="F8717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99"/>
            </a:p>
          </p:txBody>
        </p:sp>
      </p:grpSp>
      <p:sp>
        <p:nvSpPr>
          <p:cNvPr id="22" name="Google Shape;22;p3"/>
          <p:cNvSpPr/>
          <p:nvPr/>
        </p:nvSpPr>
        <p:spPr>
          <a:xfrm>
            <a:off x="320047" y="812275"/>
            <a:ext cx="2560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196600" y="1124375"/>
            <a:ext cx="42603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4465" lvl="0" marL="164592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Char char="❖"/>
            </a:pPr>
            <a:r>
              <a:rPr b="0" i="0" lang="en-US" sz="11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Vision </a:t>
            </a:r>
            <a:r>
              <a:rPr b="0" i="0" lang="en-US" sz="11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GNNs</a:t>
            </a:r>
            <a:r>
              <a:rPr b="0" i="0" lang="en-US" sz="11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are promising but graph construction is expensive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4465" lvl="0" marL="164592" marR="0" rtl="0" algn="l">
              <a:spcBef>
                <a:spcPts val="60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Char char="❖"/>
            </a:pPr>
            <a:r>
              <a:rPr b="0" i="0" lang="en-US" sz="11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KNN-style graph building limits efficiency in vision backbones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4465" lvl="0" marL="164592" marR="0" rtl="0" algn="l">
              <a:spcBef>
                <a:spcPts val="60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Char char="❖"/>
            </a:pPr>
            <a:r>
              <a:rPr b="0" i="0" lang="en-US" sz="11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High compute cost makes deployment challenging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" name="Google Shape;24;p3"/>
          <p:cNvGrpSpPr/>
          <p:nvPr/>
        </p:nvGrpSpPr>
        <p:grpSpPr>
          <a:xfrm>
            <a:off x="196607" y="2024718"/>
            <a:ext cx="4135456" cy="1526591"/>
            <a:chOff x="3227832" y="841248"/>
            <a:chExt cx="2834640" cy="3200400"/>
          </a:xfrm>
        </p:grpSpPr>
        <p:sp>
          <p:nvSpPr>
            <p:cNvPr id="25" name="Google Shape;25;p3"/>
            <p:cNvSpPr/>
            <p:nvPr/>
          </p:nvSpPr>
          <p:spPr>
            <a:xfrm>
              <a:off x="3227832" y="841248"/>
              <a:ext cx="2834640" cy="3200400"/>
            </a:xfrm>
            <a:prstGeom prst="rect">
              <a:avLst/>
            </a:prstGeom>
            <a:solidFill>
              <a:srgbClr val="162B4A"/>
            </a:solidFill>
            <a:ln cap="flat" cmpd="sng" w="10950">
              <a:solidFill>
                <a:srgbClr val="11224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87634" rotWithShape="0" algn="bl" dir="8100000" dist="32863">
                <a:srgbClr val="000000">
                  <a:alpha val="34901"/>
                </a:srgbClr>
              </a:outerShdw>
            </a:effectLst>
          </p:spPr>
          <p:txBody>
            <a:bodyPr anchorCtr="0" anchor="ctr" bIns="78850" lIns="78850" spcFirstLastPara="1" rIns="78850" wrap="square" tIns="78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3227832" y="841248"/>
              <a:ext cx="2834640" cy="54864"/>
            </a:xfrm>
            <a:prstGeom prst="rect">
              <a:avLst/>
            </a:prstGeom>
            <a:solidFill>
              <a:srgbClr val="14B8A6"/>
            </a:solidFill>
            <a:ln cap="flat" cmpd="sng" w="10950">
              <a:solidFill>
                <a:srgbClr val="14B8A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8850" lIns="78850" spcFirstLastPara="1" rIns="78850" wrap="square" tIns="78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" name="Google Shape;27;p3"/>
          <p:cNvSpPr/>
          <p:nvPr/>
        </p:nvSpPr>
        <p:spPr>
          <a:xfrm>
            <a:off x="333777" y="2061290"/>
            <a:ext cx="4185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Proposed Idea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210325" y="2384250"/>
            <a:ext cx="3894900" cy="1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4465" lvl="0" marL="164592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Char char="❖"/>
            </a:pPr>
            <a:r>
              <a:rPr b="0" i="0" lang="en-US" sz="11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Dynamic Axial Graph Construction (DAGC) — builds graph connections along image axes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4465" lvl="0" marL="164592" marR="0" rtl="0" algn="l">
              <a:spcBef>
                <a:spcPts val="60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Char char="❖"/>
            </a:pPr>
            <a:r>
              <a:rPr b="0" i="0" lang="en-US" sz="11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Combines CNN local feature extraction + graph-based global aggregation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4465" lvl="0" marL="164592" marR="0" rtl="0" algn="l">
              <a:spcBef>
                <a:spcPts val="60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Char char="❖"/>
            </a:pPr>
            <a:r>
              <a:rPr b="0" i="0" lang="en-US" sz="11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Much more efficient than full KNN graph construction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" name="Google Shape;29;p3"/>
          <p:cNvGrpSpPr/>
          <p:nvPr/>
        </p:nvGrpSpPr>
        <p:grpSpPr>
          <a:xfrm>
            <a:off x="182889" y="3670091"/>
            <a:ext cx="4135456" cy="1190869"/>
            <a:chOff x="6263640" y="841248"/>
            <a:chExt cx="2834640" cy="3200400"/>
          </a:xfrm>
        </p:grpSpPr>
        <p:sp>
          <p:nvSpPr>
            <p:cNvPr id="30" name="Google Shape;30;p3"/>
            <p:cNvSpPr/>
            <p:nvPr/>
          </p:nvSpPr>
          <p:spPr>
            <a:xfrm>
              <a:off x="6263640" y="841248"/>
              <a:ext cx="2834640" cy="3200400"/>
            </a:xfrm>
            <a:prstGeom prst="rect">
              <a:avLst/>
            </a:prstGeom>
            <a:solidFill>
              <a:srgbClr val="162B4A"/>
            </a:solidFill>
            <a:ln cap="flat" cmpd="sng" w="12700">
              <a:solidFill>
                <a:srgbClr val="11224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8100000" dist="3810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6263640" y="841248"/>
              <a:ext cx="2834640" cy="54864"/>
            </a:xfrm>
            <a:prstGeom prst="rect">
              <a:avLst/>
            </a:prstGeom>
            <a:solidFill>
              <a:srgbClr val="F59E0B"/>
            </a:solidFill>
            <a:ln cap="flat" cmpd="sng" w="12700">
              <a:solidFill>
                <a:srgbClr val="F59E0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" name="Google Shape;32;p3"/>
          <p:cNvSpPr/>
          <p:nvPr/>
        </p:nvSpPr>
        <p:spPr>
          <a:xfrm>
            <a:off x="320041" y="3679252"/>
            <a:ext cx="3735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182863" y="3989275"/>
            <a:ext cx="40977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4465" lvl="0" marL="164592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Char char="❖"/>
            </a:pPr>
            <a:r>
              <a:rPr b="0" i="0" lang="en-US" sz="11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Strong accuracy-efficiency tradeoff vs ViG/CNN/ViT baselines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4465" lvl="0" marL="164592" marR="0" rtl="0" algn="l">
              <a:spcBef>
                <a:spcPts val="60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Char char="❖"/>
            </a:pPr>
            <a:r>
              <a:rPr b="1" i="0" lang="en-US" sz="11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GreedyViG-S: 81.1% Top-1 on ImageNet</a:t>
            </a:r>
            <a:endParaRPr b="1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4465" lvl="0" marL="164592" marR="0" rtl="0" algn="l">
              <a:spcBef>
                <a:spcPts val="60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Char char="❖"/>
            </a:pPr>
            <a:r>
              <a:rPr b="1" i="0" lang="en-US" sz="11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GreedyViG-B: 83.9% Top-1 with </a:t>
            </a:r>
            <a:r>
              <a:rPr b="1" lang="en-US" sz="115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lower compute</a:t>
            </a:r>
            <a:endParaRPr b="1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" name="Google Shape;3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99000" y="1016337"/>
            <a:ext cx="4687050" cy="3697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929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2240"/>
          </a:solidFill>
          <a:ln cap="flat" cmpd="sng" w="12700">
            <a:solidFill>
              <a:srgbClr val="1122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Our Approach: Adapting and Improving GreedyViG for CIFAR-100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182880" y="822960"/>
            <a:ext cx="3950100" cy="365700"/>
          </a:xfrm>
          <a:prstGeom prst="rect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182875" y="822950"/>
            <a:ext cx="3950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Baseline Issues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5029200" y="822960"/>
            <a:ext cx="3931920" cy="36576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5029200" y="82296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Our Fixes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82880" y="1243584"/>
            <a:ext cx="822960" cy="768096"/>
          </a:xfrm>
          <a:prstGeom prst="rect">
            <a:avLst/>
          </a:prstGeom>
          <a:solidFill>
            <a:srgbClr val="0D3B6E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182880" y="1243584"/>
            <a:ext cx="82296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CIFAR Adaptation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1024128" y="1243584"/>
            <a:ext cx="3108960" cy="768096"/>
          </a:xfrm>
          <a:prstGeom prst="rect">
            <a:avLst/>
          </a:prstGeom>
          <a:solidFill>
            <a:srgbClr val="162B4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1078992" y="1307592"/>
            <a:ext cx="299923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Aggressive downsampling on 32×32 + ImageNet normalization mismatch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5029200" y="1243584"/>
            <a:ext cx="3931920" cy="768096"/>
          </a:xfrm>
          <a:prstGeom prst="rect">
            <a:avLst/>
          </a:prstGeom>
          <a:solidFill>
            <a:srgbClr val="0A2E24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5084064" y="1307592"/>
            <a:ext cx="38221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Added </a:t>
            </a:r>
            <a:r>
              <a:rPr b="1" i="0" lang="en-US" sz="105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small_input=True</a:t>
            </a:r>
            <a:r>
              <a:rPr b="0" i="0" lang="en-US" sz="10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in stem; created GreedyViG_S_CIFAR; CIFAR-100 norm stats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182880" y="2066544"/>
            <a:ext cx="822960" cy="768096"/>
          </a:xfrm>
          <a:prstGeom prst="rect">
            <a:avLst/>
          </a:prstGeom>
          <a:solidFill>
            <a:srgbClr val="0D3B6E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182880" y="2066544"/>
            <a:ext cx="82296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Graph Construction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1024128" y="2066544"/>
            <a:ext cx="3108960" cy="768096"/>
          </a:xfrm>
          <a:prstGeom prst="rect">
            <a:avLst/>
          </a:prstGeom>
          <a:solidFill>
            <a:srgbClr val="112240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1078992" y="2130552"/>
            <a:ext cx="299923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Dynamic graph thresholding was hardcoded, non-differentiable; i=0 no-op bug in loop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5029200" y="2066544"/>
            <a:ext cx="3931920" cy="768096"/>
          </a:xfrm>
          <a:prstGeom prst="rect">
            <a:avLst/>
          </a:prstGeom>
          <a:solidFill>
            <a:srgbClr val="0A2E24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5084064" y="2130552"/>
            <a:ext cx="38221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Learnable </a:t>
            </a:r>
            <a:r>
              <a:rPr b="1" lang="en-US" sz="105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α (alpha)</a:t>
            </a:r>
            <a:r>
              <a:rPr b="1" lang="en-US" sz="105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, such that </a:t>
            </a:r>
            <a:r>
              <a:rPr b="1" lang="en-US" sz="105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threshold = mean - α × std error,</a:t>
            </a:r>
            <a:r>
              <a:rPr b="0" i="0" lang="en-US" sz="10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soft sigmoid mask</a:t>
            </a:r>
            <a:r>
              <a:rPr lang="en-US" sz="105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-US" sz="10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fixed loop range for correct graph building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182880" y="2889504"/>
            <a:ext cx="822960" cy="768096"/>
          </a:xfrm>
          <a:prstGeom prst="rect">
            <a:avLst/>
          </a:prstGeom>
          <a:solidFill>
            <a:srgbClr val="0D3B6E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182880" y="2889504"/>
            <a:ext cx="82296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Local Feature Extraction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1024128" y="2889504"/>
            <a:ext cx="3108960" cy="768096"/>
          </a:xfrm>
          <a:prstGeom prst="rect">
            <a:avLst/>
          </a:prstGeom>
          <a:solidFill>
            <a:srgbClr val="162B4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1078992" y="2953512"/>
            <a:ext cx="299923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Limited channel recalibration; hardcoded padding; kernels argument silently ignored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5029200" y="2889504"/>
            <a:ext cx="3931920" cy="768096"/>
          </a:xfrm>
          <a:prstGeom prst="rect">
            <a:avLst/>
          </a:prstGeom>
          <a:solidFill>
            <a:srgbClr val="0A2E24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5084064" y="2953512"/>
            <a:ext cx="38221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SE channel attention</a:t>
            </a:r>
            <a:r>
              <a:rPr b="0" i="0" lang="en-US" sz="10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in DW-separable blocks; padding=kernel//2; 5×5 DW conv for CIFAR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182880" y="3712464"/>
            <a:ext cx="822960" cy="768096"/>
          </a:xfrm>
          <a:prstGeom prst="rect">
            <a:avLst/>
          </a:prstGeom>
          <a:solidFill>
            <a:srgbClr val="0D3B6E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182880" y="3712464"/>
            <a:ext cx="82296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Neighborhood Aggregation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1024128" y="3712464"/>
            <a:ext cx="3108960" cy="768096"/>
          </a:xfrm>
          <a:prstGeom prst="rect">
            <a:avLst/>
          </a:prstGeom>
          <a:solidFill>
            <a:srgbClr val="112240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1078992" y="3776472"/>
            <a:ext cx="299923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Graph aggregation used only max pooling</a:t>
            </a:r>
            <a:r>
              <a:rPr lang="en-US" sz="105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-US" sz="10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missed broader neighbor context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5029200" y="3712464"/>
            <a:ext cx="3931920" cy="768096"/>
          </a:xfrm>
          <a:prstGeom prst="rect">
            <a:avLst/>
          </a:prstGeom>
          <a:solidFill>
            <a:srgbClr val="0A2E24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5084064" y="3776472"/>
            <a:ext cx="38221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Dual max + mean aggregation:</a:t>
            </a:r>
            <a:r>
              <a:rPr b="0" i="0" lang="en-US" sz="10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max captures salient signal, mean captures broad context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182880" y="4754880"/>
            <a:ext cx="8778240" cy="32004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228600" y="4754880"/>
            <a:ext cx="8686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929"/>
              </a:buClr>
              <a:buSzPts val="1100"/>
              <a:buFont typeface="Calibri"/>
              <a:buNone/>
            </a:pPr>
            <a:r>
              <a:rPr b="1" i="1" lang="en-US" sz="1100">
                <a:solidFill>
                  <a:srgbClr val="0B1929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="1" i="1" lang="en-US" sz="1100" u="none" cap="none" strike="noStrike">
                <a:solidFill>
                  <a:srgbClr val="0B1929"/>
                </a:solidFill>
                <a:latin typeface="Calibri"/>
                <a:ea typeface="Calibri"/>
                <a:cs typeface="Calibri"/>
                <a:sym typeface="Calibri"/>
              </a:rPr>
              <a:t>e improved GreedyViG by making it CIFAR-aware, graph-adaptive, and locally more expressive.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" name="Google Shape;73;p4"/>
          <p:cNvCxnSpPr>
            <a:stCxn id="55" idx="3"/>
            <a:endCxn id="57" idx="1"/>
          </p:cNvCxnSpPr>
          <p:nvPr/>
        </p:nvCxnSpPr>
        <p:spPr>
          <a:xfrm>
            <a:off x="4133088" y="2450592"/>
            <a:ext cx="896100" cy="0"/>
          </a:xfrm>
          <a:prstGeom prst="straightConnector1">
            <a:avLst/>
          </a:prstGeom>
          <a:noFill/>
          <a:ln cap="flat" cmpd="sng" w="9525">
            <a:solidFill>
              <a:srgbClr val="0D9488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74" name="Google Shape;74;p4"/>
          <p:cNvCxnSpPr/>
          <p:nvPr/>
        </p:nvCxnSpPr>
        <p:spPr>
          <a:xfrm>
            <a:off x="4133088" y="1628342"/>
            <a:ext cx="896100" cy="0"/>
          </a:xfrm>
          <a:prstGeom prst="straightConnector1">
            <a:avLst/>
          </a:prstGeom>
          <a:noFill/>
          <a:ln cap="flat" cmpd="sng" w="9525">
            <a:solidFill>
              <a:srgbClr val="0D9488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75" name="Google Shape;75;p4"/>
          <p:cNvCxnSpPr/>
          <p:nvPr/>
        </p:nvCxnSpPr>
        <p:spPr>
          <a:xfrm>
            <a:off x="4133088" y="3262017"/>
            <a:ext cx="896100" cy="0"/>
          </a:xfrm>
          <a:prstGeom prst="straightConnector1">
            <a:avLst/>
          </a:prstGeom>
          <a:noFill/>
          <a:ln cap="flat" cmpd="sng" w="9525">
            <a:solidFill>
              <a:srgbClr val="0D9488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76" name="Google Shape;76;p4"/>
          <p:cNvCxnSpPr/>
          <p:nvPr/>
        </p:nvCxnSpPr>
        <p:spPr>
          <a:xfrm>
            <a:off x="4133088" y="4085117"/>
            <a:ext cx="896100" cy="0"/>
          </a:xfrm>
          <a:prstGeom prst="straightConnector1">
            <a:avLst/>
          </a:prstGeom>
          <a:noFill/>
          <a:ln cap="flat" cmpd="sng" w="9525">
            <a:solidFill>
              <a:srgbClr val="0D9488"/>
            </a:solidFill>
            <a:prstDash val="solid"/>
            <a:round/>
            <a:headEnd len="sm" w="sm" type="none"/>
            <a:tailEnd len="sm" w="sm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929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2240"/>
          </a:solidFill>
          <a:ln cap="flat" cmpd="sng" w="12700">
            <a:solidFill>
              <a:srgbClr val="1122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Experimental Results — CIFAR-100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182805" y="804673"/>
            <a:ext cx="3200400" cy="1920300"/>
          </a:xfrm>
          <a:prstGeom prst="rect">
            <a:avLst/>
          </a:prstGeom>
          <a:solidFill>
            <a:srgbClr val="112240"/>
          </a:solidFill>
          <a:ln cap="flat" cmpd="sng" w="12700">
            <a:solidFill>
              <a:srgbClr val="16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182805" y="804673"/>
            <a:ext cx="3200400" cy="347400"/>
          </a:xfrm>
          <a:prstGeom prst="rect">
            <a:avLst/>
          </a:prstGeom>
          <a:solidFill>
            <a:srgbClr val="0A2E24"/>
          </a:solidFill>
          <a:ln cap="flat" cmpd="sng" w="12700">
            <a:solidFill>
              <a:srgbClr val="0A2E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228525" y="804673"/>
            <a:ext cx="3108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Experimental Setup</a:t>
            </a:r>
            <a:endParaRPr b="0" i="0" sz="11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274250" y="1197910"/>
            <a:ext cx="3017400" cy="14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Dataset: 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CIFAR-100 (50K train / 10K test)</a:t>
            </a:r>
            <a:endParaRPr b="0" i="0" sz="1000" u="none" cap="none" strike="noStrike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Training:</a:t>
            </a:r>
            <a:r>
              <a:rPr lang="en-US" sz="10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100 epochs, Batch size = 128</a:t>
            </a:r>
            <a:endParaRPr sz="100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Augmentation:</a:t>
            </a:r>
            <a:r>
              <a:rPr lang="en-US" sz="10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RandAugment + Mixup (0.4) + CutMix (0.5) + Random Erasing</a:t>
            </a:r>
            <a:endParaRPr sz="100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Optimizer:</a:t>
            </a:r>
            <a:r>
              <a:rPr lang="en-US" sz="10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Cosine LR scheduler + EMA</a:t>
            </a:r>
            <a:endParaRPr sz="100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Hardware:</a:t>
            </a:r>
            <a:r>
              <a:rPr lang="en-US" sz="10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Single GPU (24 GB)</a:t>
            </a:r>
            <a:endParaRPr sz="100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3520455" y="3229278"/>
            <a:ext cx="3200400" cy="347400"/>
          </a:xfrm>
          <a:prstGeom prst="rect">
            <a:avLst/>
          </a:prstGeom>
          <a:solidFill>
            <a:srgbClr val="0A2E24"/>
          </a:solidFill>
          <a:ln cap="flat" cmpd="sng" w="12700">
            <a:solidFill>
              <a:srgbClr val="0A2E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3566175" y="3229278"/>
            <a:ext cx="3108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b="0" i="0" sz="11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1" name="Google Shape;91;p5"/>
          <p:cNvGraphicFramePr/>
          <p:nvPr/>
        </p:nvGraphicFramePr>
        <p:xfrm>
          <a:off x="3520438" y="36200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{9BC25755-2F2F-472D-8133-299B000A89A8}</a:tableStyleId>
              </a:tblPr>
              <a:tblGrid>
                <a:gridCol w="1976725"/>
                <a:gridCol w="1223675"/>
              </a:tblGrid>
              <a:tr h="40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Model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3B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Top-1 Accuracy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3B6E"/>
                    </a:solidFill>
                  </a:tcPr>
                </a:tc>
              </a:tr>
              <a:tr h="265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CBD5E1"/>
                          </a:solidFill>
                        </a:rPr>
                        <a:t>Baseline GreedyViG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717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E06666"/>
                          </a:solidFill>
                        </a:rPr>
                        <a:t>51.</a:t>
                      </a:r>
                      <a:r>
                        <a:rPr lang="en-US" sz="1200">
                          <a:solidFill>
                            <a:srgbClr val="E06666"/>
                          </a:solidFill>
                        </a:rPr>
                        <a:t>7</a:t>
                      </a:r>
                      <a:r>
                        <a:rPr lang="en-US" sz="1200" u="none" cap="none" strike="noStrike">
                          <a:solidFill>
                            <a:srgbClr val="E06666"/>
                          </a:solidFill>
                        </a:rPr>
                        <a:t>%</a:t>
                      </a:r>
                      <a:endParaRPr sz="1200" u="none" cap="none" strike="noStrike">
                        <a:solidFill>
                          <a:srgbClr val="E06666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Modified GreedyViG (Ours)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B8A6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4B8A6"/>
                          </a:solidFill>
                        </a:rPr>
                        <a:t>72.9%</a:t>
                      </a:r>
                      <a:endParaRPr sz="1300" u="none" cap="none" strike="noStrike">
                        <a:solidFill>
                          <a:srgbClr val="14B8A6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Improvement</a:t>
                      </a:r>
                      <a:endParaRPr b="1" sz="1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14B8A6"/>
                          </a:solidFill>
                        </a:rPr>
                        <a:t>+21.2%</a:t>
                      </a:r>
                      <a:endParaRPr b="1" sz="1300" u="none" cap="none" strike="noStrike">
                        <a:solidFill>
                          <a:srgbClr val="14B8A6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92" name="Google Shape;9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87410" y="3229275"/>
            <a:ext cx="2140500" cy="1783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3" name="Google Shape;9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0450" y="1044700"/>
            <a:ext cx="5440677" cy="2062624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5"/>
          <p:cNvSpPr/>
          <p:nvPr/>
        </p:nvSpPr>
        <p:spPr>
          <a:xfrm>
            <a:off x="3520390" y="804670"/>
            <a:ext cx="544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Training &amp; Validation Curves (100 Epochs)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3520440" y="804672"/>
            <a:ext cx="5440680" cy="0"/>
          </a:xfrm>
          <a:prstGeom prst="rect">
            <a:avLst/>
          </a:prstGeom>
          <a:solidFill>
            <a:srgbClr val="112240"/>
          </a:solidFill>
          <a:ln cap="flat" cmpd="sng" w="12700">
            <a:solidFill>
              <a:srgbClr val="1122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182807" y="3034205"/>
            <a:ext cx="3200400" cy="1988100"/>
          </a:xfrm>
          <a:prstGeom prst="rect">
            <a:avLst/>
          </a:prstGeom>
          <a:solidFill>
            <a:srgbClr val="112240"/>
          </a:solidFill>
          <a:ln cap="flat" cmpd="sng" w="12700">
            <a:solidFill>
              <a:srgbClr val="16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97" name="Google Shape;97;p5"/>
          <p:cNvSpPr/>
          <p:nvPr/>
        </p:nvSpPr>
        <p:spPr>
          <a:xfrm>
            <a:off x="182800" y="3034203"/>
            <a:ext cx="3200400" cy="347400"/>
          </a:xfrm>
          <a:prstGeom prst="rect">
            <a:avLst/>
          </a:prstGeom>
          <a:solidFill>
            <a:srgbClr val="0A2E24"/>
          </a:solidFill>
          <a:ln cap="flat" cmpd="sng" w="12700">
            <a:solidFill>
              <a:srgbClr val="0A2E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228518" y="3034205"/>
            <a:ext cx="3154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50"/>
              <a:buFont typeface="Calibri"/>
              <a:buNone/>
            </a:pPr>
            <a:r>
              <a:rPr b="1" lang="en-US" sz="1149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Key Contributions Behind Performance Gain</a:t>
            </a:r>
            <a:endParaRPr b="0" i="0" sz="1149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251475" y="3432150"/>
            <a:ext cx="3108900" cy="15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CIFAR-specific adaptation </a:t>
            </a:r>
            <a:endParaRPr b="1" sz="900">
              <a:solidFill>
                <a:srgbClr val="F59E0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8586" lvl="0" marL="18287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Char char="❖"/>
            </a:pP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Small-input stem preserves spatial resolution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8586" lvl="0" marL="18287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Char char="❖"/>
            </a:pP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Dataset-specific normalization improves learning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Improved graph construction</a:t>
            </a:r>
            <a:endParaRPr b="1" sz="900">
              <a:solidFill>
                <a:srgbClr val="F59E0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8586" lvl="0" marL="18287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❖"/>
            </a:pPr>
            <a:r>
              <a:rPr b="1"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Learnable threshold + soft mask → adaptive connectivity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Enhanced local feature learning</a:t>
            </a:r>
            <a:endParaRPr b="1" sz="900">
              <a:solidFill>
                <a:srgbClr val="F59E0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8586" lvl="0" marL="18287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Char char="❖"/>
            </a:pP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 attention + 5×5 depthwise conv → better feature extraction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Richer aggregation </a:t>
            </a:r>
            <a:endParaRPr b="1" sz="900">
              <a:solidFill>
                <a:srgbClr val="F59E0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8586" lvl="0" marL="18287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Char char="❖"/>
            </a:pP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Max + Mean aggregation captures both salient and contextual signals</a:t>
            </a:r>
            <a:endParaRPr b="1"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929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2240"/>
          </a:solidFill>
          <a:ln cap="flat" cmpd="sng" w="12700">
            <a:solidFill>
              <a:srgbClr val="1122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Individual Team Contributions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189625" y="899150"/>
            <a:ext cx="4251900" cy="3858000"/>
          </a:xfrm>
          <a:prstGeom prst="rect">
            <a:avLst/>
          </a:prstGeom>
          <a:solidFill>
            <a:srgbClr val="112240"/>
          </a:solidFill>
          <a:ln cap="flat" cmpd="sng" w="12700">
            <a:solidFill>
              <a:srgbClr val="162B4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182880" y="899148"/>
            <a:ext cx="4251900" cy="639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1897380" y="1018020"/>
            <a:ext cx="822900" cy="822900"/>
          </a:xfrm>
          <a:prstGeom prst="ellipse">
            <a:avLst/>
          </a:prstGeom>
          <a:solidFill>
            <a:srgbClr val="0D9488">
              <a:alpha val="25098"/>
            </a:srgbClr>
          </a:solidFill>
          <a:ln cap="flat" cmpd="sng" w="254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320040" y="1886700"/>
            <a:ext cx="39777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Agam Harpreet Singh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320040" y="2270748"/>
            <a:ext cx="3977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Architecture &amp; Graph Module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3" name="Google Shape;113;p6"/>
          <p:cNvCxnSpPr/>
          <p:nvPr/>
        </p:nvCxnSpPr>
        <p:spPr>
          <a:xfrm>
            <a:off x="548640" y="2599932"/>
            <a:ext cx="352050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" name="Google Shape;114;p6"/>
          <p:cNvSpPr/>
          <p:nvPr/>
        </p:nvSpPr>
        <p:spPr>
          <a:xfrm>
            <a:off x="326725" y="2707374"/>
            <a:ext cx="3977700" cy="19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8115" lvl="0" marL="18288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Designed GreedyViG_S_CIFAR variant with small_input=True stem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8115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Integrated SE (Squeeze-and-Excitation) channel attention into DW-separable blocks</a:t>
            </a:r>
            <a:endParaRPr sz="105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8115" lvl="0" marL="18288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Ran all experiments, logged metrics, generated evaluation plots and analysis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8115" lvl="0" marL="18288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Developed dual max+mean neighborhood aggregation strategy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8115" lvl="0" marL="18288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Configured training pipeline: EMA, </a:t>
            </a:r>
            <a:r>
              <a:rPr lang="en-US" sz="105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Cosine Annealing R</a:t>
            </a:r>
            <a:r>
              <a:rPr b="0" i="0" lang="en-US" sz="10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, warmup schedule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4663450" y="899150"/>
            <a:ext cx="4251900" cy="3858000"/>
          </a:xfrm>
          <a:prstGeom prst="rect">
            <a:avLst/>
          </a:prstGeom>
          <a:solidFill>
            <a:srgbClr val="112240"/>
          </a:solidFill>
          <a:ln cap="flat" cmpd="sng" w="12700">
            <a:solidFill>
              <a:srgbClr val="162B4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4663440" y="899148"/>
            <a:ext cx="4251900" cy="639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6377940" y="1018020"/>
            <a:ext cx="822900" cy="822900"/>
          </a:xfrm>
          <a:prstGeom prst="ellipse">
            <a:avLst/>
          </a:prstGeom>
          <a:solidFill>
            <a:srgbClr val="F59E0B">
              <a:alpha val="25098"/>
            </a:srgbClr>
          </a:solidFill>
          <a:ln cap="flat" cmpd="sng" w="254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4800600" y="1886700"/>
            <a:ext cx="39777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Ishan Shah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4800600" y="2270748"/>
            <a:ext cx="3977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Feature Extraction &amp; Evaluation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0" name="Google Shape;120;p6"/>
          <p:cNvCxnSpPr/>
          <p:nvPr/>
        </p:nvCxnSpPr>
        <p:spPr>
          <a:xfrm>
            <a:off x="5029200" y="2599932"/>
            <a:ext cx="352050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" name="Google Shape;121;p6"/>
          <p:cNvSpPr/>
          <p:nvPr/>
        </p:nvSpPr>
        <p:spPr>
          <a:xfrm>
            <a:off x="4800600" y="2663949"/>
            <a:ext cx="3977700" cy="19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91425">
            <a:noAutofit/>
          </a:bodyPr>
          <a:lstStyle/>
          <a:p>
            <a:pPr indent="-158115" lvl="0" marL="18288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Fixed loop range bug (i=0 no-op) in Dynamic Axial Graph Construction</a:t>
            </a:r>
            <a:endParaRPr sz="105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8115" lvl="0" marL="182880" rtl="0" algn="l">
              <a:spcBef>
                <a:spcPts val="50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Implemented learnable threshold_alpha and soft sigmoid graph masking</a:t>
            </a:r>
            <a:endParaRPr sz="105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8115" lvl="0" marL="18288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Fixed padding bug (hardcoded 1 → kernel//2) and resolved ignored kernels argument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8115" lvl="0" marL="18288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Upgraded local branch to 5×5 DW convolution for enlarged receptive field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8115" lvl="0" marL="18288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Set up CIFAR-100 normalization statistics and data augmentation (RandAugment, Mixup, CutMix)</a:t>
            </a:r>
            <a:endParaRPr sz="105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" name="Google Shape;122;p6" title="PHOTO-2025-04-10-14-28-54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10850" y="1046673"/>
            <a:ext cx="757200" cy="7656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23" name="Google Shape;123;p6" title="Screenshot 2025-04-14 at 11.35.06 AM.png"/>
          <p:cNvPicPr preferRelativeResize="0"/>
          <p:nvPr/>
        </p:nvPicPr>
        <p:blipFill rotWithShape="1">
          <a:blip r:embed="rId4">
            <a:alphaModFix/>
          </a:blip>
          <a:srcRect b="5705" l="0" r="0" t="5714"/>
          <a:stretch/>
        </p:blipFill>
        <p:spPr>
          <a:xfrm>
            <a:off x="1930225" y="1039975"/>
            <a:ext cx="757200" cy="7698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